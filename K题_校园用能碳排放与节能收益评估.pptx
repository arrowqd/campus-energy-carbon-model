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ad16d2b3841b7" /><Relationship Type="http://schemas.openxmlformats.org/officeDocument/2006/relationships/extended-properties" Target="/docProps/app.xml" Id="R5b1504ec304f495c" /><Relationship Type="http://schemas.openxmlformats.org/officeDocument/2006/relationships/officeDocument" Target="/ppt/presentation.xml" Id="R12ce17f42f42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cd508e79d46e1"/>
  </p:sldMasterIdLst>
  <p:notesMasterIdLst>
    <p:notesMasterId xmlns:r="http://schemas.openxmlformats.org/officeDocument/2006/relationships" r:id="Rd2c4a71235ef4f38"/>
  </p:notesMasterIdLst>
  <p:sldIdLst>
    <p:sldId xmlns:r="http://schemas.openxmlformats.org/officeDocument/2006/relationships" id="256" r:id="R38a071404ef448f6"/>
    <p:sldId xmlns:r="http://schemas.openxmlformats.org/officeDocument/2006/relationships" id="257" r:id="R09fb0b9d9c3444e3"/>
    <p:sldId xmlns:r="http://schemas.openxmlformats.org/officeDocument/2006/relationships" id="258" r:id="Rcafe3cc242cd4242"/>
    <p:sldId xmlns:r="http://schemas.openxmlformats.org/officeDocument/2006/relationships" id="259" r:id="R203c32e049534e0e"/>
    <p:sldId xmlns:r="http://schemas.openxmlformats.org/officeDocument/2006/relationships" id="260" r:id="R71d346331afb490e"/>
    <p:sldId xmlns:r="http://schemas.openxmlformats.org/officeDocument/2006/relationships" id="261" r:id="Rc36c934583aa4fc8"/>
    <p:sldId xmlns:r="http://schemas.openxmlformats.org/officeDocument/2006/relationships" id="262" r:id="R41b1c5b156cb42b8"/>
    <p:sldId xmlns:r="http://schemas.openxmlformats.org/officeDocument/2006/relationships" id="263" r:id="Rd0b96bef0f344b1c"/>
    <p:sldId xmlns:r="http://schemas.openxmlformats.org/officeDocument/2006/relationships" id="264" r:id="R7ae6a24324c948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9bac5700ba46b3" /><Relationship Type="http://schemas.openxmlformats.org/officeDocument/2006/relationships/slideMaster" Target="/ppt/slideMasters/slideMaster1.xml" Id="Ra5dcd508e79d46e1" /><Relationship Type="http://schemas.openxmlformats.org/officeDocument/2006/relationships/notesMaster" Target="/ppt/notesMasters/notesMaster1.xml" Id="Rd2c4a71235ef4f38" /><Relationship Type="http://schemas.openxmlformats.org/officeDocument/2006/relationships/presProps" Target="/ppt/presProps.xml" Id="Ra79fc631e3444c07" /><Relationship Type="http://schemas.openxmlformats.org/officeDocument/2006/relationships/tableStyles" Target="/ppt/tableStyles.xml" Id="Ra0bba9c388994095" /><Relationship Type="http://schemas.openxmlformats.org/officeDocument/2006/relationships/slide" Target="/ppt/slides/slide1.xml" Id="R38a071404ef448f6" /><Relationship Type="http://schemas.openxmlformats.org/officeDocument/2006/relationships/slide" Target="/ppt/slides/slide2.xml" Id="R09fb0b9d9c3444e3" /><Relationship Type="http://schemas.openxmlformats.org/officeDocument/2006/relationships/slide" Target="/ppt/slides/slide3.xml" Id="Rcafe3cc242cd4242" /><Relationship Type="http://schemas.openxmlformats.org/officeDocument/2006/relationships/slide" Target="/ppt/slides/slide4.xml" Id="R203c32e049534e0e" /><Relationship Type="http://schemas.openxmlformats.org/officeDocument/2006/relationships/slide" Target="/ppt/slides/slide5.xml" Id="R71d346331afb490e" /><Relationship Type="http://schemas.openxmlformats.org/officeDocument/2006/relationships/slide" Target="/ppt/slides/slide6.xml" Id="Rc36c934583aa4fc8" /><Relationship Type="http://schemas.openxmlformats.org/officeDocument/2006/relationships/slide" Target="/ppt/slides/slide7.xml" Id="R41b1c5b156cb42b8" /><Relationship Type="http://schemas.openxmlformats.org/officeDocument/2006/relationships/slide" Target="/ppt/slides/slide8.xml" Id="Rd0b96bef0f344b1c" /><Relationship Type="http://schemas.openxmlformats.org/officeDocument/2006/relationships/slide" Target="/ppt/slides/slide9.xml" Id="R7ae6a24324c948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e19fbda5b14b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cfb9a1c5a4689" /><Relationship Type="http://schemas.openxmlformats.org/officeDocument/2006/relationships/notesMaster" Target="/ppt/notesMasters/notesMaster1.xml" Id="R6f48a4220978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98427492847cb" /><Relationship Type="http://schemas.openxmlformats.org/officeDocument/2006/relationships/notesMaster" Target="/ppt/notesMasters/notesMaster1.xml" Id="R17fa93950581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d3d9cf7414096" /><Relationship Type="http://schemas.openxmlformats.org/officeDocument/2006/relationships/notesMaster" Target="/ppt/notesMasters/notesMaster1.xml" Id="Rc9774f1c11604a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6569ef7d394d4d" /><Relationship Type="http://schemas.openxmlformats.org/officeDocument/2006/relationships/notesMaster" Target="/ppt/notesMasters/notesMaster1.xml" Id="R62d1efe82a6b4c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cce273e20a43a9" /><Relationship Type="http://schemas.openxmlformats.org/officeDocument/2006/relationships/notesMaster" Target="/ppt/notesMasters/notesMaster1.xml" Id="Ra6ebbb7143c9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4abd92b014a9e" /><Relationship Type="http://schemas.openxmlformats.org/officeDocument/2006/relationships/notesMaster" Target="/ppt/notesMasters/notesMaster1.xml" Id="R0e065b47e8cf45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d389bb5bf841bc" /><Relationship Type="http://schemas.openxmlformats.org/officeDocument/2006/relationships/notesMaster" Target="/ppt/notesMasters/notesMaster1.xml" Id="Re0e220440b5a42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5307a5927c42d1" /><Relationship Type="http://schemas.openxmlformats.org/officeDocument/2006/relationships/notesMaster" Target="/ppt/notesMasters/notesMaster1.xml" Id="R4f2a7d21dde74a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174b07babc4351" /><Relationship Type="http://schemas.openxmlformats.org/officeDocument/2006/relationships/notesMaster" Target="/ppt/notesMasters/notesMaster1.xml" Id="Rcba2404534f2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73f5a81e2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f00e199da544eb" /><Relationship Type="http://schemas.openxmlformats.org/officeDocument/2006/relationships/slideLayout" Target="/ppt/slideLayouts/slideLayout1.xml" Id="R31c32a1f0c6a48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32a1f0c6a48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cc8692f1d4b8e" /><Relationship Type="http://schemas.openxmlformats.org/officeDocument/2006/relationships/notesSlide" Target="/ppt/notesSlides/notesSlide1.xml" Id="R4002aa30c524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41028ee8b4f8e" /><Relationship Type="http://schemas.openxmlformats.org/officeDocument/2006/relationships/notesSlide" Target="/ppt/notesSlides/notesSlide2.xml" Id="Rf8eb31df103a42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a58e96d4b4058" /><Relationship Type="http://schemas.openxmlformats.org/officeDocument/2006/relationships/notesSlide" Target="/ppt/notesSlides/notesSlide3.xml" Id="R5d640049358b47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f7b1ae9c0499c" /><Relationship Type="http://schemas.openxmlformats.org/officeDocument/2006/relationships/notesSlide" Target="/ppt/notesSlides/notesSlide4.xml" Id="R53e6147f5d85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8a2088bc64c54" /><Relationship Type="http://schemas.openxmlformats.org/officeDocument/2006/relationships/chart" Target="/ppt/slides/charts/chart1.xml" Id="R0a890c765f984f2d" /><Relationship Type="http://schemas.openxmlformats.org/officeDocument/2006/relationships/notesSlide" Target="/ppt/notesSlides/notesSlide5.xml" Id="R2c5a342b70d34e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ef79862d64018" /><Relationship Type="http://schemas.openxmlformats.org/officeDocument/2006/relationships/chart" Target="/ppt/slides/charts/chart2.xml" Id="Rd1eb7adf27c54b93" /><Relationship Type="http://schemas.openxmlformats.org/officeDocument/2006/relationships/notesSlide" Target="/ppt/notesSlides/notesSlide6.xml" Id="R726c71e3d85946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89167246c4f7f" /><Relationship Type="http://schemas.openxmlformats.org/officeDocument/2006/relationships/notesSlide" Target="/ppt/notesSlides/notesSlide7.xml" Id="Rf8983b86aaa043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31327c86243b3" /><Relationship Type="http://schemas.openxmlformats.org/officeDocument/2006/relationships/notesSlide" Target="/ppt/notesSlides/notesSlide8.xml" Id="Ra65e7299f83f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9156cf7564bfa" /><Relationship Type="http://schemas.openxmlformats.org/officeDocument/2006/relationships/notesSlide" Target="/ppt/notesSlides/notesSlide9.xml" Id="R6353cb1ec18c481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年用电量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照明</c:v>
              </c:pt>
              <c:pt idx="1">
                <c:v>空调</c:v>
              </c:pt>
              <c:pt idx="2">
                <c:v>插座</c:v>
              </c:pt>
              <c:pt idx="3">
                <c:v>公共设备</c:v>
              </c:pt>
            </c:strLit>
          </c:cat>
          <c:val>
            <c:numLit>
              <c:formatCode>General</c:formatCode>
              <c:ptCount val="4"/>
              <c:pt idx="0">
                <c:v>86400</c:v>
              </c:pt>
              <c:pt idx="1">
                <c:v>45360</c:v>
              </c:pt>
              <c:pt idx="2">
                <c:v>21600</c:v>
              </c:pt>
              <c:pt idx="3">
                <c:v>28800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3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年节省电费（元）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LED</c:v>
              </c:pt>
              <c:pt idx="1">
                <c:v>空调管理</c:v>
              </c:pt>
              <c:pt idx="2">
                <c:v>分时电价</c:v>
              </c:pt>
              <c:pt idx="3">
                <c:v>屋顶光伏</c:v>
              </c:pt>
            </c:strLit>
          </c:cat>
          <c:val>
            <c:numLit>
              <c:formatCode>General</c:formatCode>
              <c:ptCount val="4"/>
              <c:pt idx="0">
                <c:v>27648</c:v>
              </c:pt>
              <c:pt idx="1">
                <c:v>3628.8</c:v>
              </c:pt>
              <c:pt idx="2">
                <c:v>4536</c:v>
              </c:pt>
              <c:pt idx="3">
                <c:v>29145.6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976E934-FD90-4727-B3F1-58CE25D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76DF843-1521-43B2-9073-CDACF6C7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暑期实训 · 问题 K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0DBAD28-EDD7-4BA5-A486-AAC2B859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52500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校园用能碳排放测算
与节能改造收益评估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96A83A-2461-4C05-B173-7AF77710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57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以校园图书馆为例｜模拟数据版｜可复现参数化模型</a:t>
            </a:r>
          </a:p>
        </p:txBody>
      </p:sp>
      <p:sp>
        <p:nvSpPr>
          <p:cNvPr id="5" name="cover-tools">
            <a:extLst xmlns:a="http://schemas.openxmlformats.org/drawingml/2006/main">
              <a:ext uri="{FF2B5EF4-FFF2-40B4-BE49-F238E27FC236}">
                <a16:creationId xmlns:a16="http://schemas.microsoft.com/office/drawing/2014/main" id="{2BEEB47C-C7B7-4648-A0CA-58468F1A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Excel + Python + PowerPoint</a:t>
            </a:r>
          </a:p>
        </p:txBody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D284762B-1A9E-4ADA-99E3-162713B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课题来源：暑期实训任务报告 · 问题 K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790C6144-A591-4F54-B9F0-A7B737E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4498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382644E7-E30D-4627-BA25-3C88011C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我们要回答：哪种改造应当先做？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1312FE3D-2667-4512-931F-9AA3DD0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把设备台账转化为可比较的经济与减排指标，为校园管理者提供实施顺序，而不是只算一张电费账单。</a:t>
            </a:r>
          </a:p>
        </p:txBody>
      </p:sp>
      <p:sp>
        <p:nvSpPr>
          <p:cNvPr id="3" name="s2-left-panel">
            <a:extLst xmlns:a="http://schemas.openxmlformats.org/drawingml/2006/main">
              <a:ext uri="{FF2B5EF4-FFF2-40B4-BE49-F238E27FC236}">
                <a16:creationId xmlns:a16="http://schemas.microsoft.com/office/drawing/2014/main" id="{7427234A-00F1-4A87-8446-0D72CE47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5524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4" name="s2-right-panel">
            <a:extLst xmlns:a="http://schemas.openxmlformats.org/drawingml/2006/main">
              <a:ext uri="{FF2B5EF4-FFF2-40B4-BE49-F238E27FC236}">
                <a16:creationId xmlns:a16="http://schemas.microsoft.com/office/drawing/2014/main" id="{912ADBB6-2E6E-4A92-A5DC-5C1BC82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5524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2-left-heading">
            <a:extLst xmlns:a="http://schemas.openxmlformats.org/drawingml/2006/main">
              <a:ext uri="{FF2B5EF4-FFF2-40B4-BE49-F238E27FC236}">
                <a16:creationId xmlns:a16="http://schemas.microsoft.com/office/drawing/2014/main" id="{C3A2503E-E0D9-45DE-86AA-F1892703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决策问题</a:t>
            </a:r>
          </a:p>
        </p:txBody>
      </p:sp>
      <p:sp>
        <p:nvSpPr>
          <p:cNvPr id="6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16CDFC03-18B1-443E-A6DD-72883FF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当前用电、成本和碳排放是多少
• 四类方案分别节省多少
• 投资多久回收，组合如何排序</a:t>
            </a:r>
          </a:p>
        </p:txBody>
      </p:sp>
      <p:sp>
        <p:nvSpPr>
          <p:cNvPr id="7" name="s2-right-heading">
            <a:extLst xmlns:a="http://schemas.openxmlformats.org/drawingml/2006/main">
              <a:ext uri="{FF2B5EF4-FFF2-40B4-BE49-F238E27FC236}">
                <a16:creationId xmlns:a16="http://schemas.microsoft.com/office/drawing/2014/main" id="{2505F9AE-CEF0-4E58-B01D-EA06BC6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模型边界</a:t>
            </a:r>
          </a:p>
        </p:txBody>
      </p:sp>
      <p:sp>
        <p:nvSpPr>
          <p:cNvPr id="8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26B3D4FF-AC3B-47B5-A921-D9A48CD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762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图书馆购入电力（范围二）
• 模拟设备与价格参数
• 暂不含材料、通勤、制冷剂等排放</a:t>
            </a:r>
          </a:p>
        </p:txBody>
      </p:sp>
      <p:sp>
        <p:nvSpPr>
          <p:cNvPr id="9" name="source-2">
            <a:extLst xmlns:a="http://schemas.openxmlformats.org/drawingml/2006/main">
              <a:ext uri="{FF2B5EF4-FFF2-40B4-BE49-F238E27FC236}">
                <a16:creationId xmlns:a16="http://schemas.microsoft.com/office/drawing/2014/main" id="{CE643AEB-CAC8-41F4-AA0F-AD66C81E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来源：微课题.pdf 第13页；微课题通知单.pdf</a:t>
            </a:r>
          </a:p>
        </p:txBody>
      </p:sp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8D56238D-FCE1-40ED-9311-90AC4C34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945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FE2A5C44-389F-4CF2-93DC-AE9FDB27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三步把设备台账变成改造决策</a:t>
            </a:r>
          </a:p>
        </p:txBody>
      </p:sp>
      <p:sp>
        <p:nvSpPr>
          <p:cNvPr id="2" name="s3-intro">
            <a:extLst xmlns:a="http://schemas.openxmlformats.org/drawingml/2006/main">
              <a:ext uri="{FF2B5EF4-FFF2-40B4-BE49-F238E27FC236}">
                <a16:creationId xmlns:a16="http://schemas.microsoft.com/office/drawing/2014/main" id="{967CBC40-BC09-41D0-893A-D33B694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所有关键假设都放在输入单元格；Excel 公式与 Python 脚本独立复算，并由检查页核对跨表结果。</a:t>
            </a:r>
          </a:p>
        </p:txBody>
      </p:sp>
      <p:sp>
        <p:nvSpPr>
          <p:cNvPr id="3" name="s3-card1">
            <a:extLst xmlns:a="http://schemas.openxmlformats.org/drawingml/2006/main">
              <a:ext uri="{FF2B5EF4-FFF2-40B4-BE49-F238E27FC236}">
                <a16:creationId xmlns:a16="http://schemas.microsoft.com/office/drawing/2014/main" id="{1EE81484-B0C7-43F2-A255-79B44EDC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s3-card2">
            <a:extLst xmlns:a="http://schemas.openxmlformats.org/drawingml/2006/main">
              <a:ext uri="{FF2B5EF4-FFF2-40B4-BE49-F238E27FC236}">
                <a16:creationId xmlns:a16="http://schemas.microsoft.com/office/drawing/2014/main" id="{906966A8-6211-4793-ACCF-ECE12523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3375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3-card3">
            <a:extLst xmlns:a="http://schemas.openxmlformats.org/drawingml/2006/main">
              <a:ext uri="{FF2B5EF4-FFF2-40B4-BE49-F238E27FC236}">
                <a16:creationId xmlns:a16="http://schemas.microsoft.com/office/drawing/2014/main" id="{58206512-3A95-4153-98E3-26DE50B1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s3-num1">
            <a:extLst xmlns:a="http://schemas.openxmlformats.org/drawingml/2006/main">
              <a:ext uri="{FF2B5EF4-FFF2-40B4-BE49-F238E27FC236}">
                <a16:creationId xmlns:a16="http://schemas.microsoft.com/office/drawing/2014/main" id="{16C26E1F-8FE2-44C2-97AC-C40BD9B0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85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s3-num2">
            <a:extLst xmlns:a="http://schemas.openxmlformats.org/drawingml/2006/main">
              <a:ext uri="{FF2B5EF4-FFF2-40B4-BE49-F238E27FC236}">
                <a16:creationId xmlns:a16="http://schemas.microsoft.com/office/drawing/2014/main" id="{092AA497-B8ED-4A3C-81E5-B7CCE09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62350"/>
            <a:ext cx="85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8" name="s3-num3">
            <a:extLst xmlns:a="http://schemas.openxmlformats.org/drawingml/2006/main">
              <a:ext uri="{FF2B5EF4-FFF2-40B4-BE49-F238E27FC236}">
                <a16:creationId xmlns:a16="http://schemas.microsoft.com/office/drawing/2014/main" id="{76634A8F-67A1-4E6A-810A-796F3B2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85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s3-h1">
            <a:extLst xmlns:a="http://schemas.openxmlformats.org/drawingml/2006/main">
              <a:ext uri="{FF2B5EF4-FFF2-40B4-BE49-F238E27FC236}">
                <a16:creationId xmlns:a16="http://schemas.microsoft.com/office/drawing/2014/main" id="{79C7F3EF-553B-47B1-B30B-8B8BB7F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</a:t>
            </a:r>
          </a:p>
        </p:txBody>
      </p:sp>
      <p:sp>
        <p:nvSpPr>
          <p:cNvPr id="10" name="s3-b1">
            <a:extLst xmlns:a="http://schemas.openxmlformats.org/drawingml/2006/main">
              <a:ext uri="{FF2B5EF4-FFF2-40B4-BE49-F238E27FC236}">
                <a16:creationId xmlns:a16="http://schemas.microsoft.com/office/drawing/2014/main" id="{0E0B3DB5-C3AC-40F1-A551-C52A943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857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设备数量、功率、运行时间
电价、排放因子、投资</a:t>
            </a:r>
          </a:p>
        </p:txBody>
      </p:sp>
      <p:sp>
        <p:nvSpPr>
          <p:cNvPr id="11" name="s3-h2">
            <a:extLst xmlns:a="http://schemas.openxmlformats.org/drawingml/2006/main">
              <a:ext uri="{FF2B5EF4-FFF2-40B4-BE49-F238E27FC236}">
                <a16:creationId xmlns:a16="http://schemas.microsoft.com/office/drawing/2014/main" id="{14F92396-467F-41BF-B39D-BC494E63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测算</a:t>
            </a:r>
          </a:p>
        </p:txBody>
      </p:sp>
      <p:sp>
        <p:nvSpPr>
          <p:cNvPr id="12" name="s3-b2">
            <a:extLst xmlns:a="http://schemas.openxmlformats.org/drawingml/2006/main">
              <a:ext uri="{FF2B5EF4-FFF2-40B4-BE49-F238E27FC236}">
                <a16:creationId xmlns:a16="http://schemas.microsoft.com/office/drawing/2014/main" id="{94372CD3-81BC-40E5-BEBA-B3D4487C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67250"/>
            <a:ext cx="2857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用电量、年电费、碳排放
节电量、移峰量、减排量</a:t>
            </a:r>
          </a:p>
        </p:txBody>
      </p:sp>
      <p:sp>
        <p:nvSpPr>
          <p:cNvPr id="13" name="s3-h3">
            <a:extLst xmlns:a="http://schemas.openxmlformats.org/drawingml/2006/main">
              <a:ext uri="{FF2B5EF4-FFF2-40B4-BE49-F238E27FC236}">
                <a16:creationId xmlns:a16="http://schemas.microsoft.com/office/drawing/2014/main" id="{E73AC084-6B88-45F3-8BD0-AB3B9DB7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决策</a:t>
            </a:r>
          </a:p>
        </p:txBody>
      </p:sp>
      <p:sp>
        <p:nvSpPr>
          <p:cNvPr id="14" name="s3-b3">
            <a:extLst xmlns:a="http://schemas.openxmlformats.org/drawingml/2006/main">
              <a:ext uri="{FF2B5EF4-FFF2-40B4-BE49-F238E27FC236}">
                <a16:creationId xmlns:a16="http://schemas.microsoft.com/office/drawing/2014/main" id="{1EC336F6-EBC9-4D92-890B-0B6901BC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857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回收期、10年净收益
敏感性与实施优先级</a:t>
            </a:r>
          </a:p>
        </p:txBody>
      </p:sp>
      <p:sp>
        <p:nvSpPr>
          <p:cNvPr id="15" name="source-3">
            <a:extLst xmlns:a="http://schemas.openxmlformats.org/drawingml/2006/main">
              <a:ext uri="{FF2B5EF4-FFF2-40B4-BE49-F238E27FC236}">
                <a16:creationId xmlns:a16="http://schemas.microsoft.com/office/drawing/2014/main" id="{99A4B4FF-C1EF-42E2-B21B-EAAE0DDB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16" name="page-3">
            <a:extLst xmlns:a="http://schemas.openxmlformats.org/drawingml/2006/main">
              <a:ext uri="{FF2B5EF4-FFF2-40B4-BE49-F238E27FC236}">
                <a16:creationId xmlns:a16="http://schemas.microsoft.com/office/drawing/2014/main" id="{52096110-8050-4D24-8071-54D166E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1720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718D4905-E0F8-4673-8FF5-08948DB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72.34% 的基准用电集中在照明与空调</a:t>
            </a:r>
          </a:p>
        </p:txBody>
      </p:sp>
      <p:sp>
        <p:nvSpPr>
          <p:cNvPr id="2" name="s4-intro">
            <a:extLst xmlns:a="http://schemas.openxmlformats.org/drawingml/2006/main">
              <a:ext uri="{FF2B5EF4-FFF2-40B4-BE49-F238E27FC236}">
                <a16:creationId xmlns:a16="http://schemas.microsoft.com/office/drawing/2014/main" id="{56B18535-1062-480B-B854-C5BCED5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基准模型得到 182,160 kWh 年用电量；先抓住高占比负荷，能把有限投资放到最有效的位置。</a:t>
            </a:r>
          </a:p>
        </p:txBody>
      </p:sp>
      <p:sp>
        <p:nvSpPr>
          <p:cNvPr id="3" name="s4-card1">
            <a:extLst xmlns:a="http://schemas.openxmlformats.org/drawingml/2006/main">
              <a:ext uri="{FF2B5EF4-FFF2-40B4-BE49-F238E27FC236}">
                <a16:creationId xmlns:a16="http://schemas.microsoft.com/office/drawing/2014/main" id="{77DCDEB3-3155-42E5-A9AD-3A68D5B1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4" name="s4-card2">
            <a:extLst xmlns:a="http://schemas.openxmlformats.org/drawingml/2006/main">
              <a:ext uri="{FF2B5EF4-FFF2-40B4-BE49-F238E27FC236}">
                <a16:creationId xmlns:a16="http://schemas.microsoft.com/office/drawing/2014/main" id="{5F52C898-8E9E-4B60-B9DE-4118B27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4-card3">
            <a:extLst xmlns:a="http://schemas.openxmlformats.org/drawingml/2006/main">
              <a:ext uri="{FF2B5EF4-FFF2-40B4-BE49-F238E27FC236}">
                <a16:creationId xmlns:a16="http://schemas.microsoft.com/office/drawing/2014/main" id="{33559B5B-A44A-4D83-8B8F-AD00568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s4-stat1">
            <a:extLst xmlns:a="http://schemas.openxmlformats.org/drawingml/2006/main">
              <a:ext uri="{FF2B5EF4-FFF2-40B4-BE49-F238E27FC236}">
                <a16:creationId xmlns:a16="http://schemas.microsoft.com/office/drawing/2014/main" id="{3410FB83-34E6-4BF3-AB34-5987C85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182,160</a:t>
            </a:r>
          </a:p>
        </p:txBody>
      </p:sp>
      <p:sp>
        <p:nvSpPr>
          <p:cNvPr id="7" name="s4-label1">
            <a:extLst xmlns:a="http://schemas.openxmlformats.org/drawingml/2006/main">
              <a:ext uri="{FF2B5EF4-FFF2-40B4-BE49-F238E27FC236}">
                <a16:creationId xmlns:a16="http://schemas.microsoft.com/office/drawing/2014/main" id="{5BBFEB0F-1CA1-4D27-9994-98EF9891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kWh / 年
基准购电量</a:t>
            </a:r>
          </a:p>
        </p:txBody>
      </p:sp>
      <p:sp>
        <p:nvSpPr>
          <p:cNvPr id="8" name="s4-stat2">
            <a:extLst xmlns:a="http://schemas.openxmlformats.org/drawingml/2006/main">
              <a:ext uri="{FF2B5EF4-FFF2-40B4-BE49-F238E27FC236}">
                <a16:creationId xmlns:a16="http://schemas.microsoft.com/office/drawing/2014/main" id="{09A4595B-3AF6-4E91-A0C1-A6B0942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290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145,728</a:t>
            </a:r>
          </a:p>
        </p:txBody>
      </p:sp>
      <p:sp>
        <p:nvSpPr>
          <p:cNvPr id="9" name="s4-label2">
            <a:extLst xmlns:a="http://schemas.openxmlformats.org/drawingml/2006/main">
              <a:ext uri="{FF2B5EF4-FFF2-40B4-BE49-F238E27FC236}">
                <a16:creationId xmlns:a16="http://schemas.microsoft.com/office/drawing/2014/main" id="{96B7CDE6-872A-482C-AE2B-D995A4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7200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元 / 年
基准电费</a:t>
            </a:r>
          </a:p>
        </p:txBody>
      </p:sp>
      <p:sp>
        <p:nvSpPr>
          <p:cNvPr id="10" name="s4-stat3">
            <a:extLst xmlns:a="http://schemas.openxmlformats.org/drawingml/2006/main">
              <a:ext uri="{FF2B5EF4-FFF2-40B4-BE49-F238E27FC236}">
                <a16:creationId xmlns:a16="http://schemas.microsoft.com/office/drawing/2014/main" id="{19FB4EDF-60F7-403A-ADC4-59822145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103.83</a:t>
            </a:r>
          </a:p>
        </p:txBody>
      </p:sp>
      <p:sp>
        <p:nvSpPr>
          <p:cNvPr id="11" name="s4-label3">
            <a:extLst xmlns:a="http://schemas.openxmlformats.org/drawingml/2006/main">
              <a:ext uri="{FF2B5EF4-FFF2-40B4-BE49-F238E27FC236}">
                <a16:creationId xmlns:a16="http://schemas.microsoft.com/office/drawing/2014/main" id="{36510ED8-D483-4816-A199-8EE7C2E6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7200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tCO2e / 年
基准碳排放</a:t>
            </a:r>
          </a:p>
        </p:txBody>
      </p:sp>
      <p:sp>
        <p:nvSpPr>
          <p:cNvPr id="12" name="source-4">
            <a:extLst xmlns:a="http://schemas.openxmlformats.org/drawingml/2006/main">
              <a:ext uri="{FF2B5EF4-FFF2-40B4-BE49-F238E27FC236}">
                <a16:creationId xmlns:a16="http://schemas.microsoft.com/office/drawing/2014/main" id="{463E0954-0BB7-454B-80B8-A7D61DEC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13" name="page-4">
            <a:extLst xmlns:a="http://schemas.openxmlformats.org/drawingml/2006/main">
              <a:ext uri="{FF2B5EF4-FFF2-40B4-BE49-F238E27FC236}">
                <a16:creationId xmlns:a16="http://schemas.microsoft.com/office/drawing/2014/main" id="{A8158A1C-3C14-4CC0-84E2-56185FD0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8205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4502F97F-0E16-423F-833C-9974CC5E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照明占比最高，是第一节能抓手</a:t>
            </a:r>
          </a:p>
        </p:txBody>
      </p:sp>
      <p:sp>
        <p:nvSpPr>
          <p:cNvPr id="2" name="s5-card1">
            <a:extLst xmlns:a="http://schemas.openxmlformats.org/drawingml/2006/main">
              <a:ext uri="{FF2B5EF4-FFF2-40B4-BE49-F238E27FC236}">
                <a16:creationId xmlns:a16="http://schemas.microsoft.com/office/drawing/2014/main" id="{2E7D811C-E5B8-464F-ACC6-D21EB4AA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"/>
            <a:ext cx="5219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3" name="s5-card2">
            <a:extLst xmlns:a="http://schemas.openxmlformats.org/drawingml/2006/main">
              <a:ext uri="{FF2B5EF4-FFF2-40B4-BE49-F238E27FC236}">
                <a16:creationId xmlns:a16="http://schemas.microsoft.com/office/drawing/2014/main" id="{A44AD78A-F83E-4FEB-98B5-7414009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219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s5-card3">
            <a:extLst xmlns:a="http://schemas.openxmlformats.org/drawingml/2006/main">
              <a:ext uri="{FF2B5EF4-FFF2-40B4-BE49-F238E27FC236}">
                <a16:creationId xmlns:a16="http://schemas.microsoft.com/office/drawing/2014/main" id="{345B4AEB-1818-49CC-91C0-1CA8EF00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5219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5-stat1">
            <a:extLst xmlns:a="http://schemas.openxmlformats.org/drawingml/2006/main">
              <a:ext uri="{FF2B5EF4-FFF2-40B4-BE49-F238E27FC236}">
                <a16:creationId xmlns:a16="http://schemas.microsoft.com/office/drawing/2014/main" id="{0284511E-D372-4770-8AD4-BD4E604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810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47.43%</a:t>
            </a:r>
          </a:p>
        </p:txBody>
      </p:sp>
      <p:sp>
        <p:nvSpPr>
          <p:cNvPr id="6" name="s5-body1">
            <a:extLst xmlns:a="http://schemas.openxmlformats.org/drawingml/2006/main">
              <a:ext uri="{FF2B5EF4-FFF2-40B4-BE49-F238E27FC236}">
                <a16:creationId xmlns:a16="http://schemas.microsoft.com/office/drawing/2014/main" id="{84F47D13-120D-4A7A-9E50-ECF930E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763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照明年用电 86,400 kWh</a:t>
            </a:r>
          </a:p>
        </p:txBody>
      </p:sp>
      <p:sp>
        <p:nvSpPr>
          <p:cNvPr id="7" name="s5-stat2">
            <a:extLst xmlns:a="http://schemas.openxmlformats.org/drawingml/2006/main">
              <a:ext uri="{FF2B5EF4-FFF2-40B4-BE49-F238E27FC236}">
                <a16:creationId xmlns:a16="http://schemas.microsoft.com/office/drawing/2014/main" id="{9B0E95DB-D6A8-462C-8FD9-B31F554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765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24.90%</a:t>
            </a:r>
          </a:p>
        </p:txBody>
      </p:sp>
      <p:sp>
        <p:nvSpPr>
          <p:cNvPr id="8" name="s5-body2">
            <a:extLst xmlns:a="http://schemas.openxmlformats.org/drawingml/2006/main">
              <a:ext uri="{FF2B5EF4-FFF2-40B4-BE49-F238E27FC236}">
                <a16:creationId xmlns:a16="http://schemas.microsoft.com/office/drawing/2014/main" id="{91549F8D-51C4-4B11-BC58-8FE4D9B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空调年用电 45,360 kWh</a:t>
            </a:r>
          </a:p>
        </p:txBody>
      </p:sp>
      <p:sp>
        <p:nvSpPr>
          <p:cNvPr id="9" name="s5-h3">
            <a:extLst xmlns:a="http://schemas.openxmlformats.org/drawingml/2006/main">
              <a:ext uri="{FF2B5EF4-FFF2-40B4-BE49-F238E27FC236}">
                <a16:creationId xmlns:a16="http://schemas.microsoft.com/office/drawing/2014/main" id="{9BBB74BF-75D3-4716-AE36-94D813C5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114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10" name="s5-body3">
            <a:extLst xmlns:a="http://schemas.openxmlformats.org/drawingml/2006/main">
              <a:ext uri="{FF2B5EF4-FFF2-40B4-BE49-F238E27FC236}">
                <a16:creationId xmlns:a16="http://schemas.microsoft.com/office/drawing/2014/main" id="{3BE0B26A-A1C9-4501-95B7-CBDF9BD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33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照明与空调合计占 72.34%，优先做效率和管理改造。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381125"/>
          <a:ext xmlns:a="http://schemas.openxmlformats.org/drawingml/2006/main" cx="5572125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890c765f984f2d"/>
          </a:graphicData>
        </a:graphic>
      </p:graphicFrame>
      <p:sp>
        <p:nvSpPr>
          <p:cNvPr id="12" name="source-5">
            <a:extLst xmlns:a="http://schemas.openxmlformats.org/drawingml/2006/main">
              <a:ext uri="{FF2B5EF4-FFF2-40B4-BE49-F238E27FC236}">
                <a16:creationId xmlns:a16="http://schemas.microsoft.com/office/drawing/2014/main" id="{AFEA325F-5E77-4EE4-A627-037F8306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13" name="page-5">
            <a:extLst xmlns:a="http://schemas.openxmlformats.org/drawingml/2006/main">
              <a:ext uri="{FF2B5EF4-FFF2-40B4-BE49-F238E27FC236}">
                <a16:creationId xmlns:a16="http://schemas.microsoft.com/office/drawing/2014/main" id="{33447B00-66C2-495E-BE12-E9BC2BAF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0960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">
            <a:extLst xmlns:a="http://schemas.openxmlformats.org/drawingml/2006/main">
              <a:ext uri="{FF2B5EF4-FFF2-40B4-BE49-F238E27FC236}">
                <a16:creationId xmlns:a16="http://schemas.microsoft.com/office/drawing/2014/main" id="{99F3C515-C728-4CE1-A6E9-D7AC83D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四个方案都能回本，但价值路径不同</a:t>
            </a:r>
          </a:p>
        </p:txBody>
      </p:sp>
      <p:sp>
        <p:nvSpPr>
          <p:cNvPr id="2" name="s6-chart-frame">
            <a:extLst xmlns:a="http://schemas.openxmlformats.org/drawingml/2006/main">
              <a:ext uri="{FF2B5EF4-FFF2-40B4-BE49-F238E27FC236}">
                <a16:creationId xmlns:a16="http://schemas.microsoft.com/office/drawing/2014/main" id="{EC7DD2FE-F0C2-48D1-A1E0-84502D9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753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" name="s6-h">
            <a:extLst xmlns:a="http://schemas.openxmlformats.org/drawingml/2006/main">
              <a:ext uri="{FF2B5EF4-FFF2-40B4-BE49-F238E27FC236}">
                <a16:creationId xmlns:a16="http://schemas.microsoft.com/office/drawing/2014/main" id="{0B92D7F7-9C56-45A6-B338-61B7EAA0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LED 回收最快，光伏减排最大</a:t>
            </a:r>
          </a:p>
        </p:txBody>
      </p:sp>
      <p:sp>
        <p:nvSpPr>
          <p:cNvPr id="4" name="s6-body">
            <a:extLst xmlns:a="http://schemas.openxmlformats.org/drawingml/2006/main">
              <a:ext uri="{FF2B5EF4-FFF2-40B4-BE49-F238E27FC236}">
                <a16:creationId xmlns:a16="http://schemas.microsoft.com/office/drawing/2014/main" id="{A16EE9A0-4C17-4DB8-8CCD-0D543B78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762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分时电价响应只降低成本，不减少总用电和直接碳排放；不能把“移峰”写成“节电”。</a:t>
            </a:r>
          </a:p>
        </p:txBody>
      </p:sp>
      <p:sp>
        <p:nvSpPr>
          <p:cNvPr id="5" name="s6-stat1">
            <a:extLst xmlns:a="http://schemas.openxmlformats.org/drawingml/2006/main">
              <a:ext uri="{FF2B5EF4-FFF2-40B4-BE49-F238E27FC236}">
                <a16:creationId xmlns:a16="http://schemas.microsoft.com/office/drawing/2014/main" id="{960A563C-6A8E-407E-A00A-3C9F72B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095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1.09 年</a:t>
            </a:r>
          </a:p>
        </p:txBody>
      </p:sp>
      <p:sp>
        <p:nvSpPr>
          <p:cNvPr id="6" name="s6-label1">
            <a:extLst xmlns:a="http://schemas.openxmlformats.org/drawingml/2006/main">
              <a:ext uri="{FF2B5EF4-FFF2-40B4-BE49-F238E27FC236}">
                <a16:creationId xmlns:a16="http://schemas.microsoft.com/office/drawing/2014/main" id="{9A8A5E74-A593-4D77-870C-18BC274E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LED 静态回收期</a:t>
            </a:r>
          </a:p>
        </p:txBody>
      </p:sp>
      <p:sp>
        <p:nvSpPr>
          <p:cNvPr id="7" name="s6-stat2">
            <a:extLst xmlns:a="http://schemas.openxmlformats.org/drawingml/2006/main">
              <a:ext uri="{FF2B5EF4-FFF2-40B4-BE49-F238E27FC236}">
                <a16:creationId xmlns:a16="http://schemas.microsoft.com/office/drawing/2014/main" id="{D3500272-8558-47B4-9B50-18938FB1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2095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20.77 t</a:t>
            </a:r>
          </a:p>
        </p:txBody>
      </p:sp>
      <p:sp>
        <p:nvSpPr>
          <p:cNvPr id="8" name="s6-label2">
            <a:extLst xmlns:a="http://schemas.openxmlformats.org/drawingml/2006/main">
              <a:ext uri="{FF2B5EF4-FFF2-40B4-BE49-F238E27FC236}">
                <a16:creationId xmlns:a16="http://schemas.microsoft.com/office/drawing/2014/main" id="{88292349-0953-4874-988F-2FA3AB91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958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光伏年减排量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519112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eb7adf27c54b93"/>
          </a:graphicData>
        </a:graphic>
      </p:graphicFrame>
      <p:sp>
        <p:nvSpPr>
          <p:cNvPr id="10" name="source-6">
            <a:extLst xmlns:a="http://schemas.openxmlformats.org/drawingml/2006/main">
              <a:ext uri="{FF2B5EF4-FFF2-40B4-BE49-F238E27FC236}">
                <a16:creationId xmlns:a16="http://schemas.microsoft.com/office/drawing/2014/main" id="{5ABE9593-38E6-4E4E-A8C9-4D00772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11" name="page-6">
            <a:extLst xmlns:a="http://schemas.openxmlformats.org/drawingml/2006/main">
              <a:ext uri="{FF2B5EF4-FFF2-40B4-BE49-F238E27FC236}">
                <a16:creationId xmlns:a16="http://schemas.microsoft.com/office/drawing/2014/main" id="{33EA6335-B820-4B51-B2A8-0CA369E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5640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">
            <a:extLst xmlns:a="http://schemas.openxmlformats.org/drawingml/2006/main">
              <a:ext uri="{FF2B5EF4-FFF2-40B4-BE49-F238E27FC236}">
                <a16:creationId xmlns:a16="http://schemas.microsoft.com/office/drawing/2014/main" id="{8EB21745-F759-49A9-8A1F-0908E2E0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组合实施把购电量降低 37.2%</a:t>
            </a:r>
          </a:p>
        </p:txBody>
      </p:sp>
      <p:sp>
        <p:nvSpPr>
          <p:cNvPr id="2" name="s7-subtitle">
            <a:extLst xmlns:a="http://schemas.openxmlformats.org/drawingml/2006/main">
              <a:ext uri="{FF2B5EF4-FFF2-40B4-BE49-F238E27FC236}">
                <a16:creationId xmlns:a16="http://schemas.microsoft.com/office/drawing/2014/main" id="{C27089D5-B4CC-4608-84B6-5064AE6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按“效率改造 → 光伏替代 → 剩余负荷移峰”顺序计算，避免重复计算节能量和光伏替代量。</a:t>
            </a:r>
          </a:p>
        </p:txBody>
      </p:sp>
      <p:graphicFrame>
        <p:nvGraphicFramePr>
          <p:cNvPr id="10" name="scheme-result-table"/>
          <p:cNvGraphicFramePr/>
          <p:nvPr/>
        </p:nvGraphicFramePr>
        <p:xfrm>
          <a:off xmlns:a="http://schemas.openxmlformats.org/drawingml/2006/main" x="400050" y="2133600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2095500"/>
                <a:gridCol w="2286000"/>
                <a:gridCol w="1695450"/>
              </a:tblGrid>
              <a:tr h="571500">
                <a:tc>
                  <a:txBody>
                    <a:bodyPr/>
                    <a:lstStyle/>
                    <a:p>
                      <a:r>
                        <a:t>方案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节电/替代量(kWh)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年节省(元)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年减排(tCO2e)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回收期(年)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LED 照明替换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34,560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27,648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19.70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1.09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空调温度管理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4,536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3,629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1.38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分时电价响应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0（移峰10,080）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4,536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1.76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屋顶光伏接入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36,432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29,146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4.12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组合方案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67,708.8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57,795.84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38.59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2.82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s7-callout">
            <a:extLst xmlns:a="http://schemas.openxmlformats.org/drawingml/2006/main">
              <a:ext uri="{FF2B5EF4-FFF2-40B4-BE49-F238E27FC236}">
                <a16:creationId xmlns:a16="http://schemas.microsoft.com/office/drawing/2014/main" id="{A6531DEE-812F-4290-9277-E73D613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0">
            <a:solidFill>
              <a:srgbClr val="EAF7EE"/>
            </a:solidFill>
            <a:prstDash val="solid"/>
          </a:ln>
        </p:spPr>
      </p:sp>
      <p:sp>
        <p:nvSpPr>
          <p:cNvPr id="5" name="s7-callout-text">
            <a:extLst xmlns:a="http://schemas.openxmlformats.org/drawingml/2006/main">
              <a:ext uri="{FF2B5EF4-FFF2-40B4-BE49-F238E27FC236}">
                <a16:creationId xmlns:a16="http://schemas.microsoft.com/office/drawing/2014/main" id="{2400E3A3-7C64-4AD7-9409-ED29065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95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t>组合方案：总投资 16.3 万元，年节省 5.78 万元，10 年净收益约 41.50 万元。</a:t>
            </a:r>
          </a:p>
        </p:txBody>
      </p:sp>
      <p:sp>
        <p:nvSpPr>
          <p:cNvPr id="6" name="source-7">
            <a:extLst xmlns:a="http://schemas.openxmlformats.org/drawingml/2006/main">
              <a:ext uri="{FF2B5EF4-FFF2-40B4-BE49-F238E27FC236}">
                <a16:creationId xmlns:a16="http://schemas.microsoft.com/office/drawing/2014/main" id="{37378AC5-1E4A-442E-A67E-665C3C0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CD402CDD-990E-4C80-BB20-2E55A06C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0658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">
            <a:extLst xmlns:a="http://schemas.openxmlformats.org/drawingml/2006/main">
              <a:ext uri="{FF2B5EF4-FFF2-40B4-BE49-F238E27FC236}">
                <a16:creationId xmlns:a16="http://schemas.microsoft.com/office/drawing/2014/main" id="{BB17720C-4737-4982-9956-414D541A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结论对电价变化稳健，但仍需真实数据校准</a:t>
            </a:r>
          </a:p>
        </p:txBody>
      </p:sp>
      <p:sp>
        <p:nvSpPr>
          <p:cNvPr id="2" name="s8-intro">
            <a:extLst xmlns:a="http://schemas.openxmlformats.org/drawingml/2006/main">
              <a:ext uri="{FF2B5EF4-FFF2-40B4-BE49-F238E27FC236}">
                <a16:creationId xmlns:a16="http://schemas.microsoft.com/office/drawing/2014/main" id="{F800A67F-927C-4E2F-A563-A79ACB0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当平均电价在 0.65–0.95 元/kWh 变化时，组合回收期仍保持在 2.40–3.42 年；排序没有发生根本逆转。</a:t>
            </a:r>
          </a:p>
        </p:txBody>
      </p:sp>
      <p:sp>
        <p:nvSpPr>
          <p:cNvPr id="3" name="s8-left">
            <a:extLst xmlns:a="http://schemas.openxmlformats.org/drawingml/2006/main">
              <a:ext uri="{FF2B5EF4-FFF2-40B4-BE49-F238E27FC236}">
                <a16:creationId xmlns:a16="http://schemas.microsoft.com/office/drawing/2014/main" id="{43109D94-F5B2-41C9-9286-0D1532D7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524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4" name="s8-right">
            <a:extLst xmlns:a="http://schemas.openxmlformats.org/drawingml/2006/main">
              <a:ext uri="{FF2B5EF4-FFF2-40B4-BE49-F238E27FC236}">
                <a16:creationId xmlns:a16="http://schemas.microsoft.com/office/drawing/2014/main" id="{1AF1C6B9-6B5C-42DF-AE4E-9A4BB0D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5524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8-h1">
            <a:extLst xmlns:a="http://schemas.openxmlformats.org/drawingml/2006/main">
              <a:ext uri="{FF2B5EF4-FFF2-40B4-BE49-F238E27FC236}">
                <a16:creationId xmlns:a16="http://schemas.microsoft.com/office/drawing/2014/main" id="{270D4693-8E71-4B1D-B77E-DD7280E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敏感性结果</a:t>
            </a:r>
          </a:p>
        </p:txBody>
      </p:sp>
      <p:sp>
        <p:nvSpPr>
          <p:cNvPr id="6" name="s8-b1">
            <a:extLst xmlns:a="http://schemas.openxmlformats.org/drawingml/2006/main">
              <a:ext uri="{FF2B5EF4-FFF2-40B4-BE49-F238E27FC236}">
                <a16:creationId xmlns:a16="http://schemas.microsoft.com/office/drawing/2014/main" id="{5E8DD64A-AB11-4884-822E-80D817FF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0.65 元/kWh → 3.42 年
0.80 元/kWh → 2.82 年
0.95 元/kWh → 2.40 年</a:t>
            </a:r>
          </a:p>
        </p:txBody>
      </p:sp>
      <p:sp>
        <p:nvSpPr>
          <p:cNvPr id="7" name="s8-h2">
            <a:extLst xmlns:a="http://schemas.openxmlformats.org/drawingml/2006/main">
              <a:ext uri="{FF2B5EF4-FFF2-40B4-BE49-F238E27FC236}">
                <a16:creationId xmlns:a16="http://schemas.microsoft.com/office/drawing/2014/main" id="{047495FA-F851-4DDF-8FE7-6B6278E9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当前局限</a:t>
            </a:r>
          </a:p>
        </p:txBody>
      </p:sp>
      <p:sp>
        <p:nvSpPr>
          <p:cNvPr id="8" name="s8-b2">
            <a:extLst xmlns:a="http://schemas.openxmlformats.org/drawingml/2006/main">
              <a:ext uri="{FF2B5EF4-FFF2-40B4-BE49-F238E27FC236}">
                <a16:creationId xmlns:a16="http://schemas.microsoft.com/office/drawing/2014/main" id="{F6FACE3E-6CA9-4270-BE4E-F450C5A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476250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• 缺少 12 个月真实电表数据
• 未计贴现、运维与光伏衰减
• 电价与排放因子需按年度更新</a:t>
            </a:r>
          </a:p>
        </p:txBody>
      </p:sp>
      <p:sp>
        <p:nvSpPr>
          <p:cNvPr id="9" name="source-8">
            <a:extLst xmlns:a="http://schemas.openxmlformats.org/drawingml/2006/main">
              <a:ext uri="{FF2B5EF4-FFF2-40B4-BE49-F238E27FC236}">
                <a16:creationId xmlns:a16="http://schemas.microsoft.com/office/drawing/2014/main" id="{1984F848-9423-4095-81D6-E38D50F0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10" name="page-8">
            <a:extLst xmlns:a="http://schemas.openxmlformats.org/drawingml/2006/main">
              <a:ext uri="{FF2B5EF4-FFF2-40B4-BE49-F238E27FC236}">
                <a16:creationId xmlns:a16="http://schemas.microsoft.com/office/drawing/2014/main" id="{1AACAD30-64D0-4526-81F8-DD773E56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1451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">
            <a:extLst xmlns:a="http://schemas.openxmlformats.org/drawingml/2006/main">
              <a:ext uri="{FF2B5EF4-FFF2-40B4-BE49-F238E27FC236}">
                <a16:creationId xmlns:a16="http://schemas.microsoft.com/office/drawing/2014/main" id="{21B1E9F1-AD81-4DC1-8DBC-730A1F47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建议：先管控、再改造、后扩展光伏</a:t>
            </a:r>
          </a:p>
        </p:txBody>
      </p:sp>
      <p:sp>
        <p:nvSpPr>
          <p:cNvPr id="2" name="s9-intro">
            <a:extLst xmlns:a="http://schemas.openxmlformats.org/drawingml/2006/main">
              <a:ext uri="{FF2B5EF4-FFF2-40B4-BE49-F238E27FC236}">
                <a16:creationId xmlns:a16="http://schemas.microsoft.com/office/drawing/2014/main" id="{50FDF8F7-0967-4436-97D2-361FC735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t>三阶段推进既控制早期投入，也为后续工程决策积累真实数据。</a:t>
            </a:r>
          </a:p>
        </p:txBody>
      </p:sp>
      <p:cxnSp>
        <p:nvCxnSpPr>
          <p:cNvPr id="21" name="timeline-line"/>
          <p:cNvCxnSpPr/>
          <p:nvPr/>
        </p:nvCxnSpPr>
        <p:spPr>
          <a:xfrm xmlns:a="http://schemas.openxmlformats.org/drawingml/2006/main">
            <a:off x="400050" y="3257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timeline-node1">
            <a:extLst xmlns:a="http://schemas.openxmlformats.org/drawingml/2006/main">
              <a:ext uri="{FF2B5EF4-FFF2-40B4-BE49-F238E27FC236}">
                <a16:creationId xmlns:a16="http://schemas.microsoft.com/office/drawing/2014/main" id="{032BB9DB-9F13-42E9-83CE-BC3C5FF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timeline-node2">
            <a:extLst xmlns:a="http://schemas.openxmlformats.org/drawingml/2006/main">
              <a:ext uri="{FF2B5EF4-FFF2-40B4-BE49-F238E27FC236}">
                <a16:creationId xmlns:a16="http://schemas.microsoft.com/office/drawing/2014/main" id="{C439E7EB-393B-4E26-81D6-FA74083B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timeline-node3">
            <a:extLst xmlns:a="http://schemas.openxmlformats.org/drawingml/2006/main">
              <a:ext uri="{FF2B5EF4-FFF2-40B4-BE49-F238E27FC236}">
                <a16:creationId xmlns:a16="http://schemas.microsoft.com/office/drawing/2014/main" id="{9ADB9BCC-D38A-4802-85E1-4109FF8A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s9-date1">
            <a:extLst xmlns:a="http://schemas.openxmlformats.org/drawingml/2006/main">
              <a:ext uri="{FF2B5EF4-FFF2-40B4-BE49-F238E27FC236}">
                <a16:creationId xmlns:a16="http://schemas.microsoft.com/office/drawing/2014/main" id="{55A452DB-DD60-4375-80F2-D5C5F67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0–3 个月</a:t>
            </a:r>
          </a:p>
        </p:txBody>
      </p:sp>
      <p:sp>
        <p:nvSpPr>
          <p:cNvPr id="8" name="s9-date2">
            <a:extLst xmlns:a="http://schemas.openxmlformats.org/drawingml/2006/main">
              <a:ext uri="{FF2B5EF4-FFF2-40B4-BE49-F238E27FC236}">
                <a16:creationId xmlns:a16="http://schemas.microsoft.com/office/drawing/2014/main" id="{98E26AF7-E594-4719-82D6-B56E04B2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3–12 个月</a:t>
            </a:r>
          </a:p>
        </p:txBody>
      </p:sp>
      <p:sp>
        <p:nvSpPr>
          <p:cNvPr id="9" name="s9-date3">
            <a:extLst xmlns:a="http://schemas.openxmlformats.org/drawingml/2006/main">
              <a:ext uri="{FF2B5EF4-FFF2-40B4-BE49-F238E27FC236}">
                <a16:creationId xmlns:a16="http://schemas.microsoft.com/office/drawing/2014/main" id="{EDC9CBE5-385B-425B-AAC8-4A66D7F4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1–3 年</a:t>
            </a:r>
          </a:p>
        </p:txBody>
      </p:sp>
      <p:sp>
        <p:nvSpPr>
          <p:cNvPr id="10" name="s9-h1">
            <a:extLst xmlns:a="http://schemas.openxmlformats.org/drawingml/2006/main">
              <a:ext uri="{FF2B5EF4-FFF2-40B4-BE49-F238E27FC236}">
                <a16:creationId xmlns:a16="http://schemas.microsoft.com/office/drawing/2014/main" id="{7D045200-BFDB-4C58-9DB7-D08252B5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先做管理与计量</a:t>
            </a:r>
          </a:p>
        </p:txBody>
      </p:sp>
      <p:sp>
        <p:nvSpPr>
          <p:cNvPr id="11" name="s9-b1">
            <a:extLst xmlns:a="http://schemas.openxmlformats.org/drawingml/2006/main">
              <a:ext uri="{FF2B5EF4-FFF2-40B4-BE49-F238E27FC236}">
                <a16:creationId xmlns:a16="http://schemas.microsoft.com/office/drawing/2014/main" id="{3EE28B2D-BCEA-4D1D-B36C-7514B0B9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143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空调温度管理
建立分项计量与真实基线</a:t>
            </a:r>
          </a:p>
        </p:txBody>
      </p:sp>
      <p:sp>
        <p:nvSpPr>
          <p:cNvPr id="12" name="s9-h2">
            <a:extLst xmlns:a="http://schemas.openxmlformats.org/drawingml/2006/main">
              <a:ext uri="{FF2B5EF4-FFF2-40B4-BE49-F238E27FC236}">
                <a16:creationId xmlns:a16="http://schemas.microsoft.com/office/drawing/2014/main" id="{5EF35D65-4870-47C1-B8FB-6926E14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推进 LED 与移峰</a:t>
            </a:r>
          </a:p>
        </p:txBody>
      </p:sp>
      <p:sp>
        <p:nvSpPr>
          <p:cNvPr id="13" name="s9-b2">
            <a:extLst xmlns:a="http://schemas.openxmlformats.org/drawingml/2006/main">
              <a:ext uri="{FF2B5EF4-FFF2-40B4-BE49-F238E27FC236}">
                <a16:creationId xmlns:a16="http://schemas.microsoft.com/office/drawing/2014/main" id="{A3CF953D-5E80-4575-A4C2-5580C77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3143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分区更换 LED
按实测负荷优化峰谷响应</a:t>
            </a:r>
          </a:p>
        </p:txBody>
      </p:sp>
      <p:sp>
        <p:nvSpPr>
          <p:cNvPr id="14" name="s9-h3">
            <a:extLst xmlns:a="http://schemas.openxmlformats.org/drawingml/2006/main">
              <a:ext uri="{FF2B5EF4-FFF2-40B4-BE49-F238E27FC236}">
                <a16:creationId xmlns:a16="http://schemas.microsoft.com/office/drawing/2014/main" id="{3B0F6A44-6042-4BA6-BCDB-8B000BA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评估并实施光伏</a:t>
            </a:r>
          </a:p>
        </p:txBody>
      </p:sp>
      <p:sp>
        <p:nvSpPr>
          <p:cNvPr id="15" name="s9-b3">
            <a:extLst xmlns:a="http://schemas.openxmlformats.org/drawingml/2006/main">
              <a:ext uri="{FF2B5EF4-FFF2-40B4-BE49-F238E27FC236}">
                <a16:creationId xmlns:a16="http://schemas.microsoft.com/office/drawing/2014/main" id="{9CC43C10-87B3-47F6-A6A5-EE4744A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3143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核查屋面、遮挡与并网
以实测发电量修正模型</a:t>
            </a:r>
          </a:p>
        </p:txBody>
      </p:sp>
      <p:sp>
        <p:nvSpPr>
          <p:cNvPr id="16" name="s9-close">
            <a:extLst xmlns:a="http://schemas.openxmlformats.org/drawingml/2006/main">
              <a:ext uri="{FF2B5EF4-FFF2-40B4-BE49-F238E27FC236}">
                <a16:creationId xmlns:a16="http://schemas.microsoft.com/office/drawing/2014/main" id="{BE6309FF-2E09-4D29-80E3-13F97CDB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下一步：用真实电表与报价替换蓝色输入，让模型从“方案筛选”升级为“工程决策”。</a:t>
            </a:r>
          </a:p>
        </p:txBody>
      </p:sp>
      <p:sp>
        <p:nvSpPr>
          <p:cNvPr id="17" name="source-9">
            <a:extLst xmlns:a="http://schemas.openxmlformats.org/drawingml/2006/main">
              <a:ext uri="{FF2B5EF4-FFF2-40B4-BE49-F238E27FC236}">
                <a16:creationId xmlns:a16="http://schemas.microsoft.com/office/drawing/2014/main" id="{76126360-A584-4476-812A-AF818CE8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来源：参数化模型与模拟数据；详见 Excel/README</a:t>
            </a:r>
          </a:p>
        </p:txBody>
      </p:sp>
      <p:sp>
        <p:nvSpPr>
          <p:cNvPr id="18" name="page-9">
            <a:extLst xmlns:a="http://schemas.openxmlformats.org/drawingml/2006/main">
              <a:ext uri="{FF2B5EF4-FFF2-40B4-BE49-F238E27FC236}">
                <a16:creationId xmlns:a16="http://schemas.microsoft.com/office/drawing/2014/main" id="{A0FC775F-2992-4912-A4ED-C2ECA90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9165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2026-07-14T10:28:09.6880000Z</dcterms:created>
  <dcterms:modified xsi:type="dcterms:W3CDTF">2026-07-14T10:28:09.6880000Z</dcterms:modified>
</coreProperties>
</file>